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Retail Demand Forecasting</a:t>
            </a:r>
          </a:p>
          <a:p>
            <a:pPr algn="ctr">
              <a:defRPr sz="2700" b="0"/>
            </a:pPr>
            <a:r>
              <a:t>Using Big Data Analytics</a:t>
            </a:r>
          </a:p>
          <a:p>
            <a:pPr algn="ctr">
              <a:defRPr sz="2000" b="0"/>
            </a:pPr>
            <a:r>
              <a:t>HDFS • Hive • PySpark • Spark ML</a:t>
            </a:r>
          </a:p>
          <a:p>
            <a:pPr algn="ctr">
              <a:defRPr sz="1600" b="0"/>
            </a:pPr>
            <a:r>
              <a:t>HCL GUVI × JAIN UNIVERSITY</a:t>
            </a:r>
          </a:p>
          <a:p>
            <a:pPr algn="ctr">
              <a:defRPr sz="1600" b="0"/>
            </a:pPr>
            <a:r>
              <a:t>[Group / Member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retail demand variation across stores, products and time.</a:t>
            </a:r>
          </a:p>
          <a:p>
            <a:pPr>
              <a:spcAft>
                <a:spcPts val="1200"/>
              </a:spcAft>
              <a:defRPr sz="2000"/>
            </a:pPr>
            <a:r>
              <a:t>Analyze historical demand patterns using Big Data technologies.</a:t>
            </a:r>
          </a:p>
          <a:p>
            <a:pPr>
              <a:spcAft>
                <a:spcPts val="1200"/>
              </a:spcAft>
              <a:defRPr sz="2000"/>
            </a:pPr>
            <a:r>
              <a:t>Build a reproducible demand forecasting workflow.</a:t>
            </a:r>
          </a:p>
          <a:p>
            <a:pPr>
              <a:spcAft>
                <a:spcPts val="1200"/>
              </a:spcAft>
              <a:defRPr sz="2000"/>
            </a:pPr>
            <a:r>
              <a:t>Dataset: 913,000 historical store-item daily sales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File: train.csv</a:t>
            </a:r>
          </a:p>
          <a:p>
            <a:pPr>
              <a:spcAft>
                <a:spcPts val="1200"/>
              </a:spcAft>
              <a:defRPr sz="2000"/>
            </a:pPr>
            <a:r>
              <a:t>Columns: date, store, item, sales</a:t>
            </a:r>
          </a:p>
          <a:p>
            <a:pPr>
              <a:spcAft>
                <a:spcPts val="1200"/>
              </a:spcAft>
              <a:defRPr sz="2000"/>
            </a:pPr>
            <a:r>
              <a:t>913,000 records</a:t>
            </a:r>
          </a:p>
          <a:p>
            <a:pPr>
              <a:spcAft>
                <a:spcPts val="1200"/>
              </a:spcAft>
              <a:defRPr sz="2000"/>
            </a:pPr>
            <a:r>
              <a:t>10 stores and 50 items across 2013–2017</a:t>
            </a:r>
          </a:p>
          <a:p>
            <a:pPr>
              <a:spcAft>
                <a:spcPts val="1200"/>
              </a:spcAft>
              <a:defRPr sz="2000"/>
            </a:pPr>
            <a:r>
              <a:t>Target variable: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Big Data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331720"/>
            <a:ext cx="14630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train.csv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331720"/>
            <a:ext cx="14630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HDFS</a:t>
            </a:r>
          </a:p>
          <a:p>
            <a:r>
              <a:t>Raw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331720"/>
            <a:ext cx="14630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Hive</a:t>
            </a:r>
          </a:p>
          <a:p>
            <a:r>
              <a:t>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331720"/>
            <a:ext cx="14630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PySpark</a:t>
            </a:r>
          </a:p>
          <a:p>
            <a:r>
              <a:t>Transform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331720"/>
            <a:ext cx="14630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Spark ML</a:t>
            </a:r>
          </a:p>
          <a:p>
            <a:r>
              <a:t>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2331720"/>
            <a:ext cx="146304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HDFS</a:t>
            </a:r>
          </a:p>
          <a:p>
            <a:r>
              <a:t>Results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816352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2816352"/>
            <a:ext cx="4572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69279" y="2816352"/>
            <a:ext cx="4572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89520" y="2816352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2640" y="2816352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9319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HDFS = distributed storage | Hive = SQL analysis | Spark = distributed processing and ML</a:t>
            </a:r>
          </a:p>
          <a:p>
            <a:pPr>
              <a:spcAft>
                <a:spcPts val="1200"/>
              </a:spcAft>
              <a:defRPr sz="1700"/>
            </a:pPr>
            <a:r>
              <a:t>Docker hosts the Hadoop/Spark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HDFS + 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Raw HDFS path: /data/retail/raw/train.csv</a:t>
            </a:r>
          </a:p>
          <a:p>
            <a:pPr>
              <a:spcAft>
                <a:spcPts val="1200"/>
              </a:spcAft>
              <a:defRPr sz="2000"/>
            </a:pPr>
            <a:r>
              <a:t>Hive database: retail_analytics</a:t>
            </a:r>
          </a:p>
          <a:p>
            <a:pPr>
              <a:spcAft>
                <a:spcPts val="1200"/>
              </a:spcAft>
              <a:defRPr sz="2000"/>
            </a:pPr>
            <a:r>
              <a:t>Hive table: retail_sales</a:t>
            </a:r>
          </a:p>
          <a:p>
            <a:pPr>
              <a:spcAft>
                <a:spcPts val="1200"/>
              </a:spcAft>
              <a:defRPr sz="2000"/>
            </a:pPr>
            <a:r>
              <a:t>External table reads data from HDFS.</a:t>
            </a:r>
          </a:p>
          <a:p>
            <a:pPr>
              <a:spcAft>
                <a:spcPts val="1200"/>
              </a:spcAft>
              <a:defRPr sz="2000"/>
            </a:pPr>
            <a:r>
              <a:t>Analyses: store-wise, item-wise, yearly, monthly and store-item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Key Hive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Store 2 — highest total sales: 6,120,128</a:t>
            </a:r>
          </a:p>
          <a:p>
            <a:pPr>
              <a:spcAft>
                <a:spcPts val="1200"/>
              </a:spcAft>
              <a:defRPr sz="2000"/>
            </a:pPr>
            <a:r>
              <a:t>Item 15 — highest total sales: 1,607,442</a:t>
            </a:r>
          </a:p>
          <a:p>
            <a:pPr>
              <a:spcAft>
                <a:spcPts val="1200"/>
              </a:spcAft>
              <a:defRPr sz="2000"/>
            </a:pPr>
            <a:r>
              <a:t>2017 — highest annual sales: 10,733,740</a:t>
            </a:r>
          </a:p>
          <a:p>
            <a:pPr>
              <a:spcAft>
                <a:spcPts val="1200"/>
              </a:spcAft>
              <a:defRPr sz="2000"/>
            </a:pPr>
            <a:r>
              <a:t>July 2017 — highest monthly sales: 1,171,393</a:t>
            </a:r>
          </a:p>
          <a:p>
            <a:pPr>
              <a:spcAft>
                <a:spcPts val="1200"/>
              </a:spcAft>
              <a:defRPr sz="2000"/>
            </a:pPr>
            <a:r>
              <a:t>Store 2 + Item 28 — highest store-item combination: 205,677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PySpark 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Read train.csv directly from HDFS.</a:t>
            </a:r>
          </a:p>
          <a:p>
            <a:pPr>
              <a:spcAft>
                <a:spcPts val="1200"/>
              </a:spcAft>
              <a:defRPr sz="2000"/>
            </a:pPr>
            <a:r>
              <a:t>913,000 records; 0 NULL values; 913,000 distinct records.</a:t>
            </a:r>
          </a:p>
          <a:p>
            <a:pPr>
              <a:spcAft>
                <a:spcPts val="1200"/>
              </a:spcAft>
              <a:defRPr sz="2000"/>
            </a:pPr>
            <a:r>
              <a:t>Converted date to Spark date type.</a:t>
            </a:r>
          </a:p>
          <a:p>
            <a:pPr>
              <a:spcAft>
                <a:spcPts val="1200"/>
              </a:spcAft>
              <a:defRPr sz="2000"/>
            </a:pPr>
            <a:r>
              <a:t>Created year, month, day and day_of_week.</a:t>
            </a:r>
          </a:p>
          <a:p>
            <a:pPr>
              <a:spcAft>
                <a:spcPts val="1200"/>
              </a:spcAft>
              <a:defRPr sz="2000"/>
            </a:pPr>
            <a:r>
              <a:t>Created lag_1, lag_7 and rolling_7 features per store-item 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Forecasting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Model: Random Forest Regression using Spark MLlib.</a:t>
            </a:r>
          </a:p>
          <a:p>
            <a:pPr>
              <a:spcAft>
                <a:spcPts val="1200"/>
              </a:spcAft>
              <a:defRPr sz="2000"/>
            </a:pPr>
            <a:r>
              <a:t>Features: lag_1, lag_7, rolling_7.</a:t>
            </a:r>
          </a:p>
          <a:p>
            <a:pPr>
              <a:spcAft>
                <a:spcPts val="1200"/>
              </a:spcAft>
              <a:defRPr sz="2000"/>
            </a:pPr>
            <a:r>
              <a:t>Time-based split: 2013–2016 training; 2017 testing.</a:t>
            </a:r>
          </a:p>
          <a:p>
            <a:pPr>
              <a:spcAft>
                <a:spcPts val="1200"/>
              </a:spcAft>
              <a:defRPr sz="2000"/>
            </a:pPr>
            <a:r>
              <a:t>Training records: 727,000.</a:t>
            </a:r>
          </a:p>
          <a:p>
            <a:pPr>
              <a:spcAft>
                <a:spcPts val="1200"/>
              </a:spcAft>
              <a:defRPr sz="2000"/>
            </a:pPr>
            <a:r>
              <a:t>Testing records: 182,500.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RMSE: 10.0215</a:t>
            </a:r>
          </a:p>
          <a:p>
            <a:pPr>
              <a:spcAft>
                <a:spcPts val="1200"/>
              </a:spcAft>
              <a:defRPr sz="2200"/>
            </a:pPr>
            <a:r>
              <a:t>MAE: 7.5991</a:t>
            </a:r>
          </a:p>
          <a:p>
            <a:pPr>
              <a:spcAft>
                <a:spcPts val="1200"/>
              </a:spcAft>
              <a:defRPr sz="2200"/>
            </a:pPr>
            <a:r>
              <a:t>Predictions follow the broad 2017 seasonal pattern.</a:t>
            </a:r>
          </a:p>
          <a:p>
            <a:pPr>
              <a:spcAft>
                <a:spcPts val="1200"/>
              </a:spcAft>
              <a:defRPr sz="2200"/>
            </a:pPr>
            <a:r>
              <a:t>July remains the peak-demand month.</a:t>
            </a:r>
          </a:p>
          <a:p>
            <a:pPr>
              <a:spcAft>
                <a:spcPts val="1200"/>
              </a:spcAft>
              <a:defRPr sz="2200"/>
            </a:pPr>
            <a:r>
              <a:t>Forecast predictions were stored back in HDFS.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Actual vs Predicted Sales — 2017</a:t>
            </a:r>
          </a:p>
        </p:txBody>
      </p:sp>
      <p:pic>
        <p:nvPicPr>
          <p:cNvPr id="3" name="Picture 2" descr="download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424160" cy="56029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Integration &amp; Result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End-to-end flow: HDFS → Hive → PySpark → Spark ML → HDFS.</a:t>
            </a:r>
          </a:p>
          <a:p>
            <a:pPr>
              <a:spcAft>
                <a:spcPts val="1200"/>
              </a:spcAft>
              <a:defRPr sz="2000"/>
            </a:pPr>
            <a:r>
              <a:t>Forecast output: /data/retail/results/forecast_predictions</a:t>
            </a:r>
          </a:p>
          <a:p>
            <a:pPr>
              <a:spcAft>
                <a:spcPts val="1200"/>
              </a:spcAft>
              <a:defRPr sz="2000"/>
            </a:pPr>
            <a:r>
              <a:t>Spark produced distributed part-*.csv files and _SUCCESS.</a:t>
            </a:r>
          </a:p>
          <a:p>
            <a:pPr>
              <a:spcAft>
                <a:spcPts val="1200"/>
              </a:spcAft>
              <a:defRPr sz="2000"/>
            </a:pPr>
            <a:r>
              <a:t>HBase/Pig were not used in this implementation unless specifically required by the trainer.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Historical demand increased from 2013 to 2017.</a:t>
            </a:r>
          </a:p>
          <a:p>
            <a:pPr>
              <a:spcAft>
                <a:spcPts val="1200"/>
              </a:spcAft>
              <a:defRPr sz="2000"/>
            </a:pPr>
            <a:r>
              <a:t>Store 2 and Item 15 were the strongest overall performers.</a:t>
            </a:r>
          </a:p>
          <a:p>
            <a:pPr>
              <a:spcAft>
                <a:spcPts val="1200"/>
              </a:spcAft>
              <a:defRPr sz="2000"/>
            </a:pPr>
            <a:r>
              <a:t>July showed the strongest seasonal demand.</a:t>
            </a:r>
          </a:p>
          <a:p>
            <a:pPr>
              <a:spcAft>
                <a:spcPts val="1200"/>
              </a:spcAft>
              <a:defRPr sz="2000"/>
            </a:pPr>
            <a:r>
              <a:t>Random Forest captured the broad 2017 demand movement.</a:t>
            </a:r>
          </a:p>
          <a:p>
            <a:pPr>
              <a:spcAft>
                <a:spcPts val="1200"/>
              </a:spcAft>
              <a:defRPr sz="2000"/>
            </a:pPr>
            <a:r>
              <a:t>The complete workflow demonstrates distributed storage, SQL analytics, Spark processing and ML forecasting.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Individual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[Your Name] — Spark/PySpark forecasting, feature engineering, Random Forest and evaluation.</a:t>
            </a:r>
          </a:p>
          <a:p>
            <a:pPr>
              <a:spcAft>
                <a:spcPts val="1200"/>
              </a:spcAft>
              <a:defRPr sz="1800"/>
            </a:pPr>
            <a:r>
              <a:t>[Member 1] — HDFS/data ingestion.</a:t>
            </a:r>
          </a:p>
          <a:p>
            <a:pPr>
              <a:spcAft>
                <a:spcPts val="1200"/>
              </a:spcAft>
              <a:defRPr sz="1800"/>
            </a:pPr>
            <a:r>
              <a:t>[Member 2] — Hive/data modeling.</a:t>
            </a:r>
          </a:p>
          <a:p>
            <a:pPr>
              <a:spcAft>
                <a:spcPts val="1200"/>
              </a:spcAft>
              <a:defRPr sz="1800"/>
            </a:pPr>
            <a:r>
              <a:t>[Member 4] — Advanced technology/integration, only if actually used.</a:t>
            </a:r>
          </a:p>
          <a:p>
            <a:pPr>
              <a:spcAft>
                <a:spcPts val="1200"/>
              </a:spcAft>
              <a:defRPr sz="1800"/>
            </a:pPr>
            <a:r>
              <a:t>[Member 5] — Integration/documentation.</a:t>
            </a:r>
          </a:p>
          <a:p>
            <a:pPr>
              <a:spcAft>
                <a:spcPts val="1200"/>
              </a:spcAft>
              <a:defRPr sz="1800"/>
            </a:pPr>
            <a:r>
              <a:t>Replace placeholders with the team's actual contributions.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Q&amp;A — Be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Why HDFS? — Distributed storage.</a:t>
            </a:r>
          </a:p>
          <a:p>
            <a:pPr>
              <a:spcAft>
                <a:spcPts val="1200"/>
              </a:spcAft>
              <a:defRPr sz="1700"/>
            </a:pPr>
            <a:r>
              <a:t>Why Hive? — SQL analysis over HDFS data.</a:t>
            </a:r>
          </a:p>
          <a:p>
            <a:pPr>
              <a:spcAft>
                <a:spcPts val="1200"/>
              </a:spcAft>
              <a:defRPr sz="1700"/>
            </a:pPr>
            <a:r>
              <a:t>Why Spark? — Distributed processing and ML.</a:t>
            </a:r>
          </a:p>
          <a:p>
            <a:pPr>
              <a:spcAft>
                <a:spcPts val="1200"/>
              </a:spcAft>
              <a:defRPr sz="1700"/>
            </a:pPr>
            <a:r>
              <a:t>Why time-based split? — Prevents future observations from training on the past.</a:t>
            </a:r>
          </a:p>
          <a:p>
            <a:pPr>
              <a:spcAft>
                <a:spcPts val="1200"/>
              </a:spcAft>
              <a:defRPr sz="1700"/>
            </a:pPr>
            <a:r>
              <a:t>What are lag features? — Previous demand values used as predictors.</a:t>
            </a:r>
          </a:p>
          <a:p>
            <a:pPr>
              <a:spcAft>
                <a:spcPts val="1200"/>
              </a:spcAft>
              <a:defRPr sz="1700"/>
            </a:pPr>
            <a:r>
              <a:t>What do RMSE and MAE measure? — Prediction error.</a:t>
            </a:r>
          </a:p>
          <a:p>
            <a:pPr>
              <a:spcAft>
                <a:spcPts val="1200"/>
              </a:spcAft>
              <a:defRPr sz="1700"/>
            </a:pPr>
            <a:r>
              <a:t>Explain the complete pipeline from CSV to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